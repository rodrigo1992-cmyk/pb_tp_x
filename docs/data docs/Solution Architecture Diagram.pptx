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 Mon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obotoMono-boldItalic.fntdata"/><Relationship Id="rId9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Mono-regular.fntdata"/><Relationship Id="rId8" Type="http://schemas.openxmlformats.org/officeDocument/2006/relationships/font" Target="fonts/RobotoMon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564350" y="930550"/>
            <a:ext cx="1415700" cy="49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latin typeface="Roboto Mono"/>
                <a:ea typeface="Roboto Mono"/>
                <a:cs typeface="Roboto Mono"/>
                <a:sym typeface="Roboto Mono"/>
              </a:rPr>
              <a:t>pages/streamlit_app.py</a:t>
            </a:r>
            <a:endParaRPr sz="5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[Arquivo de inicialização do app, que carrega as bases necessárias, cria o menu de filtros e invoca as páginas do app]</a:t>
            </a:r>
            <a:endParaRPr sz="5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1600075" y="1314763"/>
            <a:ext cx="1189500" cy="37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latin typeface="Roboto Mono"/>
                <a:ea typeface="Roboto Mono"/>
                <a:cs typeface="Roboto Mono"/>
                <a:sym typeface="Roboto Mono"/>
              </a:rPr>
              <a:t>services/</a:t>
            </a:r>
            <a:endParaRPr sz="5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functions_</a:t>
            </a:r>
            <a:r>
              <a:rPr lang="pt-BR" sz="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webscrapping</a:t>
            </a:r>
            <a:r>
              <a:rPr lang="pt-BR" sz="500">
                <a:latin typeface="Roboto Mono"/>
                <a:ea typeface="Roboto Mono"/>
                <a:cs typeface="Roboto Mono"/>
                <a:sym typeface="Roboto Mono"/>
              </a:rPr>
              <a:t>.py</a:t>
            </a:r>
            <a:endParaRPr sz="5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[Funções para raspar as páginas do Catho e Indeed]</a:t>
            </a:r>
            <a:endParaRPr sz="5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" name="Google Shape;56;p13"/>
          <p:cNvSpPr txBox="1"/>
          <p:nvPr/>
        </p:nvSpPr>
        <p:spPr>
          <a:xfrm rot="-1959">
            <a:off x="6241214" y="1450024"/>
            <a:ext cx="52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FF"/>
                </a:solidFill>
              </a:rPr>
              <a:t>Invoca</a:t>
            </a:r>
            <a:endParaRPr sz="600">
              <a:solidFill>
                <a:srgbClr val="0000FF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3961750" y="3168650"/>
            <a:ext cx="813900" cy="33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router/paths.py</a:t>
            </a:r>
            <a:endParaRPr sz="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[APIs Server]</a:t>
            </a:r>
            <a:endParaRPr sz="5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58" name="Google Shape;58;p13"/>
          <p:cNvCxnSpPr/>
          <p:nvPr/>
        </p:nvCxnSpPr>
        <p:spPr>
          <a:xfrm>
            <a:off x="5328825" y="11650"/>
            <a:ext cx="0" cy="51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3"/>
          <p:cNvSpPr txBox="1"/>
          <p:nvPr/>
        </p:nvSpPr>
        <p:spPr>
          <a:xfrm>
            <a:off x="194625" y="119900"/>
            <a:ext cx="239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Back-End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511050" y="119900"/>
            <a:ext cx="239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Front-</a:t>
            </a:r>
            <a:r>
              <a:rPr lang="pt-BR">
                <a:solidFill>
                  <a:schemeClr val="dk2"/>
                </a:solidFill>
              </a:rPr>
              <a:t>End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43150" y="624600"/>
            <a:ext cx="1576500" cy="46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latin typeface="Roboto Mono"/>
                <a:ea typeface="Roboto Mono"/>
                <a:cs typeface="Roboto Mono"/>
                <a:sym typeface="Roboto Mono"/>
              </a:rPr>
              <a:t>services</a:t>
            </a:r>
            <a:r>
              <a:rPr lang="pt-BR" sz="500">
                <a:latin typeface="Roboto Mono"/>
                <a:ea typeface="Roboto Mono"/>
                <a:cs typeface="Roboto Mono"/>
                <a:sym typeface="Roboto Mono"/>
              </a:rPr>
              <a:t>/</a:t>
            </a:r>
            <a:endParaRPr sz="5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latin typeface="Roboto Mono"/>
                <a:ea typeface="Roboto Mono"/>
                <a:cs typeface="Roboto Mono"/>
                <a:sym typeface="Roboto Mono"/>
              </a:rPr>
              <a:t>main_backend.py</a:t>
            </a:r>
            <a:endParaRPr sz="5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[Invoca as funções de webscrapping e pré-processamento de dados de forma manual/ad-hoc]</a:t>
            </a:r>
            <a:endParaRPr sz="5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2" name="Google Shape;62;p13"/>
          <p:cNvSpPr txBox="1"/>
          <p:nvPr/>
        </p:nvSpPr>
        <p:spPr>
          <a:xfrm rot="-1959">
            <a:off x="933464" y="1269749"/>
            <a:ext cx="52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FF"/>
                </a:solidFill>
              </a:rPr>
              <a:t>Invoca</a:t>
            </a:r>
            <a:endParaRPr sz="600">
              <a:solidFill>
                <a:srgbClr val="0000FF"/>
              </a:solidFill>
            </a:endParaRPr>
          </a:p>
        </p:txBody>
      </p:sp>
      <p:cxnSp>
        <p:nvCxnSpPr>
          <p:cNvPr id="63" name="Google Shape;63;p13"/>
          <p:cNvCxnSpPr>
            <a:stCxn id="61" idx="2"/>
            <a:endCxn id="55" idx="1"/>
          </p:cNvCxnSpPr>
          <p:nvPr/>
        </p:nvCxnSpPr>
        <p:spPr>
          <a:xfrm flipH="1" rot="-5400000">
            <a:off x="1058300" y="960000"/>
            <a:ext cx="414900" cy="6687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" name="Google Shape;64;p13"/>
          <p:cNvSpPr/>
          <p:nvPr/>
        </p:nvSpPr>
        <p:spPr>
          <a:xfrm>
            <a:off x="1600200" y="2443400"/>
            <a:ext cx="1383600" cy="37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latin typeface="Roboto Mono"/>
                <a:ea typeface="Roboto Mono"/>
                <a:cs typeface="Roboto Mono"/>
                <a:sym typeface="Roboto Mono"/>
              </a:rPr>
              <a:t>services/</a:t>
            </a:r>
            <a:endParaRPr sz="5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functions_dataPreProcessing</a:t>
            </a:r>
            <a:r>
              <a:rPr lang="pt-BR" sz="500">
                <a:latin typeface="Roboto Mono"/>
                <a:ea typeface="Roboto Mono"/>
                <a:cs typeface="Roboto Mono"/>
                <a:sym typeface="Roboto Mono"/>
              </a:rPr>
              <a:t>.py</a:t>
            </a:r>
            <a:endParaRPr sz="5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[funções para junção das bases, normalização, tratamento de nulos, etc…]</a:t>
            </a:r>
            <a:endParaRPr sz="5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65" name="Google Shape;65;p13"/>
          <p:cNvCxnSpPr>
            <a:stCxn id="61" idx="2"/>
            <a:endCxn id="64" idx="1"/>
          </p:cNvCxnSpPr>
          <p:nvPr/>
        </p:nvCxnSpPr>
        <p:spPr>
          <a:xfrm flipH="1" rot="-5400000">
            <a:off x="494000" y="1524300"/>
            <a:ext cx="1543500" cy="6687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" name="Google Shape;66;p13"/>
          <p:cNvSpPr txBox="1"/>
          <p:nvPr/>
        </p:nvSpPr>
        <p:spPr>
          <a:xfrm rot="-1959">
            <a:off x="933464" y="2383599"/>
            <a:ext cx="52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FF"/>
                </a:solidFill>
              </a:rPr>
              <a:t>Invoca</a:t>
            </a:r>
            <a:endParaRPr sz="600">
              <a:solidFill>
                <a:srgbClr val="0000FF"/>
              </a:solidFill>
            </a:endParaRPr>
          </a:p>
        </p:txBody>
      </p:sp>
      <p:cxnSp>
        <p:nvCxnSpPr>
          <p:cNvPr id="67" name="Google Shape;67;p13"/>
          <p:cNvCxnSpPr>
            <a:stCxn id="54" idx="2"/>
            <a:endCxn id="68" idx="1"/>
          </p:cNvCxnSpPr>
          <p:nvPr/>
        </p:nvCxnSpPr>
        <p:spPr>
          <a:xfrm flipH="1" rot="-5400000">
            <a:off x="6330100" y="1366150"/>
            <a:ext cx="344700" cy="4605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3"/>
          <p:cNvSpPr txBox="1"/>
          <p:nvPr/>
        </p:nvSpPr>
        <p:spPr>
          <a:xfrm rot="-1959">
            <a:off x="6241139" y="2046424"/>
            <a:ext cx="52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FF"/>
                </a:solidFill>
              </a:rPr>
              <a:t>Invoca</a:t>
            </a:r>
            <a:endParaRPr sz="600">
              <a:solidFill>
                <a:srgbClr val="0000FF"/>
              </a:solidFill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6732550" y="2192727"/>
            <a:ext cx="1189500" cy="44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pages/JobFinder.py</a:t>
            </a:r>
            <a:endParaRPr sz="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[ChatBot para busca de vagas usando linguagem natural]</a:t>
            </a:r>
            <a:endParaRPr sz="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71" name="Google Shape;71;p13"/>
          <p:cNvCxnSpPr>
            <a:stCxn id="54" idx="2"/>
            <a:endCxn id="70" idx="1"/>
          </p:cNvCxnSpPr>
          <p:nvPr/>
        </p:nvCxnSpPr>
        <p:spPr>
          <a:xfrm flipH="1" rot="-5400000">
            <a:off x="6005800" y="1690450"/>
            <a:ext cx="993300" cy="4605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3"/>
          <p:cNvSpPr/>
          <p:nvPr/>
        </p:nvSpPr>
        <p:spPr>
          <a:xfrm>
            <a:off x="7683575" y="4459425"/>
            <a:ext cx="1332900" cy="57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pages</a:t>
            </a:r>
            <a:r>
              <a:rPr lang="pt-BR" sz="500"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pt-BR" sz="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utils</a:t>
            </a:r>
            <a:r>
              <a:rPr lang="pt-BR" sz="500">
                <a:latin typeface="Roboto Mono"/>
                <a:ea typeface="Roboto Mono"/>
                <a:cs typeface="Roboto Mono"/>
                <a:sym typeface="Roboto Mono"/>
              </a:rPr>
              <a:t>.py</a:t>
            </a:r>
            <a:endParaRPr sz="5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[Arquivo contendo tanto as APIs cliente, quanto as demais funções que utilizadas pelas páginas]</a:t>
            </a:r>
            <a:endParaRPr sz="500"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73" name="Google Shape;73;p13"/>
          <p:cNvCxnSpPr>
            <a:stCxn id="68" idx="3"/>
            <a:endCxn id="72" idx="0"/>
          </p:cNvCxnSpPr>
          <p:nvPr/>
        </p:nvCxnSpPr>
        <p:spPr>
          <a:xfrm>
            <a:off x="7922050" y="1768625"/>
            <a:ext cx="428100" cy="26907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3"/>
          <p:cNvCxnSpPr>
            <a:stCxn id="70" idx="3"/>
            <a:endCxn id="72" idx="0"/>
          </p:cNvCxnSpPr>
          <p:nvPr/>
        </p:nvCxnSpPr>
        <p:spPr>
          <a:xfrm>
            <a:off x="7922050" y="2417427"/>
            <a:ext cx="428100" cy="20421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5" name="Google Shape;75;p13"/>
          <p:cNvGrpSpPr/>
          <p:nvPr/>
        </p:nvGrpSpPr>
        <p:grpSpPr>
          <a:xfrm>
            <a:off x="3340625" y="1292217"/>
            <a:ext cx="373200" cy="418872"/>
            <a:chOff x="3347925" y="1391575"/>
            <a:chExt cx="373200" cy="497650"/>
          </a:xfrm>
        </p:grpSpPr>
        <p:sp>
          <p:nvSpPr>
            <p:cNvPr id="76" name="Google Shape;76;p13"/>
            <p:cNvSpPr/>
            <p:nvPr/>
          </p:nvSpPr>
          <p:spPr>
            <a:xfrm>
              <a:off x="3347925" y="1708925"/>
              <a:ext cx="373200" cy="180300"/>
            </a:xfrm>
            <a:prstGeom prst="can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3347925" y="1548175"/>
              <a:ext cx="373200" cy="180300"/>
            </a:xfrm>
            <a:prstGeom prst="can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347925" y="1391575"/>
              <a:ext cx="373200" cy="180300"/>
            </a:xfrm>
            <a:prstGeom prst="can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9" name="Google Shape;79;p13"/>
          <p:cNvCxnSpPr>
            <a:stCxn id="55" idx="3"/>
            <a:endCxn id="77" idx="2"/>
          </p:cNvCxnSpPr>
          <p:nvPr/>
        </p:nvCxnSpPr>
        <p:spPr>
          <a:xfrm flipH="1" rot="10800000">
            <a:off x="2789575" y="1499863"/>
            <a:ext cx="551100" cy="18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3"/>
          <p:cNvSpPr txBox="1"/>
          <p:nvPr/>
        </p:nvSpPr>
        <p:spPr>
          <a:xfrm rot="-1959">
            <a:off x="2751952" y="1269761"/>
            <a:ext cx="52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FF0000"/>
                </a:solidFill>
              </a:rPr>
              <a:t>Outputs</a:t>
            </a:r>
            <a:endParaRPr sz="600">
              <a:solidFill>
                <a:srgbClr val="FF0000"/>
              </a:solidFill>
            </a:endParaRPr>
          </a:p>
        </p:txBody>
      </p:sp>
      <p:cxnSp>
        <p:nvCxnSpPr>
          <p:cNvPr id="81" name="Google Shape;81;p13"/>
          <p:cNvCxnSpPr>
            <a:stCxn id="76" idx="3"/>
            <a:endCxn id="64" idx="0"/>
          </p:cNvCxnSpPr>
          <p:nvPr/>
        </p:nvCxnSpPr>
        <p:spPr>
          <a:xfrm rot="5400000">
            <a:off x="2543525" y="1459689"/>
            <a:ext cx="732300" cy="12351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" name="Google Shape;82;p13"/>
          <p:cNvSpPr txBox="1"/>
          <p:nvPr/>
        </p:nvSpPr>
        <p:spPr>
          <a:xfrm rot="-1959">
            <a:off x="2729527" y="1856661"/>
            <a:ext cx="52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38761D"/>
                </a:solidFill>
              </a:rPr>
              <a:t>Inputs</a:t>
            </a:r>
            <a:endParaRPr sz="600">
              <a:solidFill>
                <a:srgbClr val="38761D"/>
              </a:solidFill>
            </a:endParaRPr>
          </a:p>
        </p:txBody>
      </p:sp>
      <p:grpSp>
        <p:nvGrpSpPr>
          <p:cNvPr id="83" name="Google Shape;83;p13"/>
          <p:cNvGrpSpPr/>
          <p:nvPr/>
        </p:nvGrpSpPr>
        <p:grpSpPr>
          <a:xfrm>
            <a:off x="3289150" y="2422873"/>
            <a:ext cx="373200" cy="418872"/>
            <a:chOff x="3347925" y="1391575"/>
            <a:chExt cx="373200" cy="497650"/>
          </a:xfrm>
        </p:grpSpPr>
        <p:sp>
          <p:nvSpPr>
            <p:cNvPr id="84" name="Google Shape;84;p13"/>
            <p:cNvSpPr/>
            <p:nvPr/>
          </p:nvSpPr>
          <p:spPr>
            <a:xfrm>
              <a:off x="3347925" y="1708925"/>
              <a:ext cx="373200" cy="180300"/>
            </a:xfrm>
            <a:prstGeom prst="can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3347925" y="1548175"/>
              <a:ext cx="373200" cy="180300"/>
            </a:xfrm>
            <a:prstGeom prst="can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3347925" y="1391575"/>
              <a:ext cx="373200" cy="180300"/>
            </a:xfrm>
            <a:prstGeom prst="can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13"/>
          <p:cNvSpPr txBox="1"/>
          <p:nvPr/>
        </p:nvSpPr>
        <p:spPr>
          <a:xfrm rot="-2127">
            <a:off x="3652600" y="1216077"/>
            <a:ext cx="969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rgbClr val="999999"/>
                </a:solidFill>
              </a:rPr>
              <a:t>data/raws/…</a:t>
            </a:r>
            <a:endParaRPr sz="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rgbClr val="999999"/>
                </a:solidFill>
              </a:rPr>
              <a:t>[arquivos com conteúdos das vagas extraídas dos sites]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 rot="-2788">
            <a:off x="3602725" y="2386019"/>
            <a:ext cx="110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rgbClr val="999999"/>
                </a:solidFill>
              </a:rPr>
              <a:t>data/processed/…</a:t>
            </a:r>
            <a:endParaRPr sz="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rgbClr val="999999"/>
                </a:solidFill>
              </a:rPr>
              <a:t>[arquivos com conteúdos das vagas com dados normalizados]</a:t>
            </a:r>
            <a:endParaRPr sz="500">
              <a:solidFill>
                <a:srgbClr val="999999"/>
              </a:solidFill>
            </a:endParaRPr>
          </a:p>
        </p:txBody>
      </p:sp>
      <p:cxnSp>
        <p:nvCxnSpPr>
          <p:cNvPr id="89" name="Google Shape;89;p13"/>
          <p:cNvCxnSpPr>
            <a:stCxn id="64" idx="3"/>
            <a:endCxn id="85" idx="2"/>
          </p:cNvCxnSpPr>
          <p:nvPr/>
        </p:nvCxnSpPr>
        <p:spPr>
          <a:xfrm>
            <a:off x="2983800" y="2630300"/>
            <a:ext cx="305400" cy="6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3"/>
          <p:cNvCxnSpPr>
            <a:stCxn id="84" idx="3"/>
          </p:cNvCxnSpPr>
          <p:nvPr/>
        </p:nvCxnSpPr>
        <p:spPr>
          <a:xfrm flipH="1" rot="-5400000">
            <a:off x="3494050" y="2823445"/>
            <a:ext cx="449400" cy="486000"/>
          </a:xfrm>
          <a:prstGeom prst="bentConnector2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" name="Google Shape;91;p13"/>
          <p:cNvSpPr txBox="1"/>
          <p:nvPr/>
        </p:nvSpPr>
        <p:spPr>
          <a:xfrm rot="-1959">
            <a:off x="3398609" y="3082654"/>
            <a:ext cx="52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38761D"/>
                </a:solidFill>
              </a:rPr>
              <a:t>Inputs</a:t>
            </a:r>
            <a:endParaRPr sz="600">
              <a:solidFill>
                <a:srgbClr val="38761D"/>
              </a:solidFill>
            </a:endParaRPr>
          </a:p>
        </p:txBody>
      </p:sp>
      <p:cxnSp>
        <p:nvCxnSpPr>
          <p:cNvPr id="92" name="Google Shape;92;p13"/>
          <p:cNvCxnSpPr>
            <a:stCxn id="57" idx="3"/>
          </p:cNvCxnSpPr>
          <p:nvPr/>
        </p:nvCxnSpPr>
        <p:spPr>
          <a:xfrm>
            <a:off x="4775650" y="3336200"/>
            <a:ext cx="2919000" cy="1633500"/>
          </a:xfrm>
          <a:prstGeom prst="bentConnector3">
            <a:avLst>
              <a:gd fmla="val 25867" name="adj1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3"/>
          <p:cNvSpPr/>
          <p:nvPr/>
        </p:nvSpPr>
        <p:spPr>
          <a:xfrm>
            <a:off x="6732550" y="2824279"/>
            <a:ext cx="1189500" cy="4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pages/ProfileAnalysis.py</a:t>
            </a:r>
            <a:endParaRPr sz="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[Dashboard com análise dos diferentes perfis de profissionais de dados]</a:t>
            </a:r>
            <a:endParaRPr sz="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94" name="Google Shape;94;p13"/>
          <p:cNvCxnSpPr>
            <a:stCxn id="54" idx="2"/>
            <a:endCxn id="93" idx="1"/>
          </p:cNvCxnSpPr>
          <p:nvPr/>
        </p:nvCxnSpPr>
        <p:spPr>
          <a:xfrm flipH="1" rot="-5400000">
            <a:off x="5697700" y="1998550"/>
            <a:ext cx="1609500" cy="4605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3"/>
          <p:cNvCxnSpPr>
            <a:stCxn id="54" idx="2"/>
            <a:endCxn id="96" idx="1"/>
          </p:cNvCxnSpPr>
          <p:nvPr/>
        </p:nvCxnSpPr>
        <p:spPr>
          <a:xfrm flipH="1" rot="-5400000">
            <a:off x="5420800" y="2275450"/>
            <a:ext cx="2163300" cy="4605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3"/>
          <p:cNvSpPr txBox="1"/>
          <p:nvPr/>
        </p:nvSpPr>
        <p:spPr>
          <a:xfrm rot="-1959">
            <a:off x="6241214" y="2629799"/>
            <a:ext cx="52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FF"/>
                </a:solidFill>
              </a:rPr>
              <a:t>Invoca</a:t>
            </a:r>
            <a:endParaRPr sz="600">
              <a:solidFill>
                <a:srgbClr val="0000FF"/>
              </a:solidFill>
            </a:endParaRPr>
          </a:p>
        </p:txBody>
      </p:sp>
      <p:sp>
        <p:nvSpPr>
          <p:cNvPr id="98" name="Google Shape;98;p13"/>
          <p:cNvSpPr txBox="1"/>
          <p:nvPr/>
        </p:nvSpPr>
        <p:spPr>
          <a:xfrm rot="-1959">
            <a:off x="6241139" y="3226199"/>
            <a:ext cx="52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FF"/>
                </a:solidFill>
              </a:rPr>
              <a:t>Invoca</a:t>
            </a:r>
            <a:endParaRPr sz="600">
              <a:solidFill>
                <a:srgbClr val="0000FF"/>
              </a:solidFill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6732550" y="3362501"/>
            <a:ext cx="1189500" cy="44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pages/DataDownload.py</a:t>
            </a:r>
            <a:endParaRPr sz="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[Página para download das vagas em CSV ou para Upload de novas vagas]</a:t>
            </a:r>
            <a:endParaRPr sz="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6732550" y="1561175"/>
            <a:ext cx="1189500" cy="41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pages</a:t>
            </a:r>
            <a:r>
              <a:rPr lang="pt-BR" sz="500">
                <a:latin typeface="Roboto Mono"/>
                <a:ea typeface="Roboto Mono"/>
                <a:cs typeface="Roboto Mono"/>
                <a:sym typeface="Roboto Mono"/>
              </a:rPr>
              <a:t>/About</a:t>
            </a:r>
            <a:r>
              <a:rPr lang="pt-BR" sz="500">
                <a:latin typeface="Roboto Mono"/>
                <a:ea typeface="Roboto Mono"/>
                <a:cs typeface="Roboto Mono"/>
                <a:sym typeface="Roboto Mono"/>
              </a:rPr>
              <a:t>.py</a:t>
            </a:r>
            <a:endParaRPr sz="5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[Página com a apresentação do projeto]</a:t>
            </a:r>
            <a:endParaRPr sz="5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99" name="Google Shape;99;p13"/>
          <p:cNvCxnSpPr>
            <a:stCxn id="93" idx="3"/>
            <a:endCxn id="72" idx="0"/>
          </p:cNvCxnSpPr>
          <p:nvPr/>
        </p:nvCxnSpPr>
        <p:spPr>
          <a:xfrm>
            <a:off x="7922050" y="3033679"/>
            <a:ext cx="428100" cy="14256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3"/>
          <p:cNvCxnSpPr>
            <a:stCxn id="96" idx="3"/>
            <a:endCxn id="72" idx="0"/>
          </p:cNvCxnSpPr>
          <p:nvPr/>
        </p:nvCxnSpPr>
        <p:spPr>
          <a:xfrm>
            <a:off x="7922050" y="3587201"/>
            <a:ext cx="428100" cy="8721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3"/>
          <p:cNvCxnSpPr>
            <a:endCxn id="72" idx="1"/>
          </p:cNvCxnSpPr>
          <p:nvPr/>
        </p:nvCxnSpPr>
        <p:spPr>
          <a:xfrm flipH="1" rot="-5400000">
            <a:off x="5099375" y="2160225"/>
            <a:ext cx="3305400" cy="18630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3"/>
          <p:cNvSpPr txBox="1"/>
          <p:nvPr/>
        </p:nvSpPr>
        <p:spPr>
          <a:xfrm rot="-1959">
            <a:off x="6242939" y="4532424"/>
            <a:ext cx="52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FF"/>
                </a:solidFill>
              </a:rPr>
              <a:t>Invoca</a:t>
            </a:r>
            <a:endParaRPr sz="600">
              <a:solidFill>
                <a:srgbClr val="0000FF"/>
              </a:solidFill>
            </a:endParaRPr>
          </a:p>
        </p:txBody>
      </p:sp>
      <p:sp>
        <p:nvSpPr>
          <p:cNvPr id="103" name="Google Shape;103;p13"/>
          <p:cNvSpPr txBox="1"/>
          <p:nvPr/>
        </p:nvSpPr>
        <p:spPr>
          <a:xfrm rot="-1959">
            <a:off x="6661609" y="4759554"/>
            <a:ext cx="52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38761D"/>
                </a:solidFill>
              </a:rPr>
              <a:t>Inputs</a:t>
            </a:r>
            <a:endParaRPr sz="600">
              <a:solidFill>
                <a:srgbClr val="38761D"/>
              </a:solidFill>
            </a:endParaRPr>
          </a:p>
        </p:txBody>
      </p:sp>
      <p:sp>
        <p:nvSpPr>
          <p:cNvPr id="104" name="Google Shape;104;p13"/>
          <p:cNvSpPr txBox="1"/>
          <p:nvPr/>
        </p:nvSpPr>
        <p:spPr>
          <a:xfrm rot="-1959">
            <a:off x="7868139" y="1450024"/>
            <a:ext cx="52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FF"/>
                </a:solidFill>
              </a:rPr>
              <a:t>Invoca</a:t>
            </a:r>
            <a:endParaRPr sz="600">
              <a:solidFill>
                <a:srgbClr val="0000FF"/>
              </a:solidFill>
            </a:endParaRPr>
          </a:p>
        </p:txBody>
      </p:sp>
      <p:sp>
        <p:nvSpPr>
          <p:cNvPr id="105" name="Google Shape;105;p13"/>
          <p:cNvSpPr txBox="1"/>
          <p:nvPr/>
        </p:nvSpPr>
        <p:spPr>
          <a:xfrm rot="-1959">
            <a:off x="7868064" y="2046424"/>
            <a:ext cx="52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FF"/>
                </a:solidFill>
              </a:rPr>
              <a:t>Invoca</a:t>
            </a:r>
            <a:endParaRPr sz="600">
              <a:solidFill>
                <a:srgbClr val="0000FF"/>
              </a:solidFill>
            </a:endParaRPr>
          </a:p>
        </p:txBody>
      </p:sp>
      <p:sp>
        <p:nvSpPr>
          <p:cNvPr id="106" name="Google Shape;106;p13"/>
          <p:cNvSpPr txBox="1"/>
          <p:nvPr/>
        </p:nvSpPr>
        <p:spPr>
          <a:xfrm rot="-1959">
            <a:off x="7868139" y="2629799"/>
            <a:ext cx="52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FF"/>
                </a:solidFill>
              </a:rPr>
              <a:t>Invoca</a:t>
            </a:r>
            <a:endParaRPr sz="600">
              <a:solidFill>
                <a:srgbClr val="0000FF"/>
              </a:solidFill>
            </a:endParaRPr>
          </a:p>
        </p:txBody>
      </p:sp>
      <p:sp>
        <p:nvSpPr>
          <p:cNvPr id="107" name="Google Shape;107;p13"/>
          <p:cNvSpPr txBox="1"/>
          <p:nvPr/>
        </p:nvSpPr>
        <p:spPr>
          <a:xfrm rot="-1959">
            <a:off x="7868064" y="3226199"/>
            <a:ext cx="52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FF"/>
                </a:solidFill>
              </a:rPr>
              <a:t>Invoca</a:t>
            </a:r>
            <a:endParaRPr sz="6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